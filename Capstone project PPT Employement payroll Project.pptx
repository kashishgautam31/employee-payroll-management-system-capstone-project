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70" r:id="rId3"/>
    <p:sldId id="268" r:id="rId4"/>
    <p:sldId id="265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7" r:id="rId13"/>
    <p:sldId id="269" r:id="rId14"/>
    <p:sldId id="26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A5356"/>
    <a:srgbClr val="9CA3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27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Relationship Id="rId4" Type="http://schemas.openxmlformats.org/officeDocument/2006/relationships/image" Target="../media/image4.jpe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Relationship Id="rId4" Type="http://schemas.openxmlformats.org/officeDocument/2006/relationships/image" Target="../media/image4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1F6A618-09FA-4FA9-896D-79F33E5C14FB}" type="doc">
      <dgm:prSet loTypeId="urn:microsoft.com/office/officeart/2005/8/layout/vList5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0D63C321-B6BF-4F44-8460-059C4DB479A8}" type="pres">
      <dgm:prSet presAssocID="{21F6A618-09FA-4FA9-896D-79F33E5C14FB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</dgm:ptLst>
  <dgm:cxnLst>
    <dgm:cxn modelId="{1BD35A9B-9895-054D-B983-D76CB588D357}" type="presOf" srcId="{21F6A618-09FA-4FA9-896D-79F33E5C14FB}" destId="{0D63C321-B6BF-4F44-8460-059C4DB479A8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4990C0E-385A-46E1-A872-03852ADA83AA}" type="doc">
      <dgm:prSet loTypeId="urn:microsoft.com/office/officeart/2008/layout/BendingPictureSemiTransparentTex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A6E1FD2-C312-44E0-8D4F-62D0B25DEF3D}">
      <dgm:prSet/>
      <dgm:spPr>
        <a:ln>
          <a:solidFill>
            <a:schemeClr val="accent3">
              <a:lumMod val="75000"/>
            </a:schemeClr>
          </a:solidFill>
          <a:extLst>
            <a:ext uri="{C807C97D-BFC1-408E-A445-0C87EB9F89A2}">
              <ask:lineSketchStyleProps xmlns:ask="http://schemas.microsoft.com/office/drawing/2018/sketchyshapes" xmlns="">
                <ask:type>
                  <ask:lineSketchCurved/>
                </ask:type>
              </ask:lineSketchStyleProps>
            </a:ext>
          </a:extLst>
        </a:ln>
      </dgm:spPr>
      <dgm:t>
        <a:bodyPr/>
        <a:lstStyle/>
        <a:p>
          <a:r>
            <a:rPr lang="en-US" dirty="0"/>
            <a:t>Kashish Gautam</a:t>
          </a:r>
        </a:p>
      </dgm:t>
    </dgm:pt>
    <dgm:pt modelId="{44F95057-5241-437B-867E-E88C19DED002}" type="parTrans" cxnId="{B83602C7-9F62-4F8B-A8CB-890C8908B36E}">
      <dgm:prSet/>
      <dgm:spPr/>
      <dgm:t>
        <a:bodyPr/>
        <a:lstStyle/>
        <a:p>
          <a:endParaRPr lang="en-US"/>
        </a:p>
      </dgm:t>
    </dgm:pt>
    <dgm:pt modelId="{7161A157-77DD-4654-83AD-85053500904D}" type="sibTrans" cxnId="{B83602C7-9F62-4F8B-A8CB-890C8908B36E}">
      <dgm:prSet/>
      <dgm:spPr/>
      <dgm:t>
        <a:bodyPr/>
        <a:lstStyle/>
        <a:p>
          <a:endParaRPr lang="en-US"/>
        </a:p>
      </dgm:t>
    </dgm:pt>
    <dgm:pt modelId="{6E9E8653-8BC8-4C52-A35B-2769E502392D}">
      <dgm:prSet/>
      <dgm:spPr>
        <a:solidFill>
          <a:schemeClr val="accent3">
            <a:lumMod val="75000"/>
            <a:alpha val="40000"/>
          </a:schemeClr>
        </a:solidFill>
        <a:ln>
          <a:solidFill>
            <a:schemeClr val="accent3">
              <a:lumMod val="75000"/>
            </a:schemeClr>
          </a:solidFill>
          <a:extLst>
            <a:ext uri="{C807C97D-BFC1-408E-A445-0C87EB9F89A2}">
              <ask:lineSketchStyleProps xmlns:ask="http://schemas.microsoft.com/office/drawing/2018/sketchyshapes" xmlns="">
                <ask:type>
                  <ask:lineSketchCurved/>
                </ask:type>
              </ask:lineSketchStyleProps>
            </a:ext>
          </a:extLst>
        </a:ln>
      </dgm:spPr>
      <dgm:t>
        <a:bodyPr/>
        <a:lstStyle/>
        <a:p>
          <a:r>
            <a:rPr lang="en-US" dirty="0"/>
            <a:t>Bhoomi</a:t>
          </a:r>
        </a:p>
      </dgm:t>
    </dgm:pt>
    <dgm:pt modelId="{BC7146B3-9BDF-4553-B199-2DB02A9555FA}" type="sibTrans" cxnId="{BE2EDDE4-F6AF-4ADF-B7B8-8B53B7B8A88E}">
      <dgm:prSet/>
      <dgm:spPr/>
      <dgm:t>
        <a:bodyPr/>
        <a:lstStyle/>
        <a:p>
          <a:endParaRPr lang="en-US"/>
        </a:p>
      </dgm:t>
    </dgm:pt>
    <dgm:pt modelId="{82B45140-462E-4C8B-9B25-E35F1EF90BB3}" type="parTrans" cxnId="{BE2EDDE4-F6AF-4ADF-B7B8-8B53B7B8A88E}">
      <dgm:prSet/>
      <dgm:spPr/>
      <dgm:t>
        <a:bodyPr/>
        <a:lstStyle/>
        <a:p>
          <a:endParaRPr lang="en-US"/>
        </a:p>
      </dgm:t>
    </dgm:pt>
    <dgm:pt modelId="{A1F4593A-63D0-42D9-8664-58C36CAF2C13}">
      <dgm:prSet/>
      <dgm:spPr>
        <a:ln>
          <a:solidFill>
            <a:schemeClr val="accent3">
              <a:lumMod val="75000"/>
            </a:schemeClr>
          </a:solidFill>
          <a:extLst>
            <a:ext uri="{C807C97D-BFC1-408E-A445-0C87EB9F89A2}">
              <ask:lineSketchStyleProps xmlns:ask="http://schemas.microsoft.com/office/drawing/2018/sketchyshapes" xmlns="">
                <ask:type>
                  <ask:lineSketchCurved/>
                </ask:type>
              </ask:lineSketchStyleProps>
            </a:ext>
          </a:extLst>
        </a:ln>
      </dgm:spPr>
      <dgm:t>
        <a:bodyPr/>
        <a:lstStyle/>
        <a:p>
          <a:r>
            <a:rPr lang="en-US" dirty="0"/>
            <a:t>Khushi Kashyap</a:t>
          </a:r>
        </a:p>
      </dgm:t>
    </dgm:pt>
    <dgm:pt modelId="{43EB3D60-2164-4D24-99E6-B02D2AEDF85E}" type="sibTrans" cxnId="{F903AA03-30E0-4EE0-8539-3BC273F6D75B}">
      <dgm:prSet/>
      <dgm:spPr/>
      <dgm:t>
        <a:bodyPr/>
        <a:lstStyle/>
        <a:p>
          <a:endParaRPr lang="en-US"/>
        </a:p>
      </dgm:t>
    </dgm:pt>
    <dgm:pt modelId="{9E62E5F5-4180-43BA-94E5-A93CA903CBDE}" type="parTrans" cxnId="{F903AA03-30E0-4EE0-8539-3BC273F6D75B}">
      <dgm:prSet/>
      <dgm:spPr/>
      <dgm:t>
        <a:bodyPr/>
        <a:lstStyle/>
        <a:p>
          <a:endParaRPr lang="en-US"/>
        </a:p>
      </dgm:t>
    </dgm:pt>
    <dgm:pt modelId="{52DFE429-4D8F-4E83-8247-35E3D421C5BC}">
      <dgm:prSet/>
      <dgm:spPr>
        <a:ln>
          <a:solidFill>
            <a:schemeClr val="accent3">
              <a:lumMod val="75000"/>
            </a:schemeClr>
          </a:solidFill>
          <a:extLst>
            <a:ext uri="{C807C97D-BFC1-408E-A445-0C87EB9F89A2}">
              <ask:lineSketchStyleProps xmlns:ask="http://schemas.microsoft.com/office/drawing/2018/sketchyshapes" xmlns="">
                <ask:type>
                  <ask:lineSketchCurved/>
                </ask:type>
              </ask:lineSketchStyleProps>
            </a:ext>
          </a:extLst>
        </a:ln>
      </dgm:spPr>
      <dgm:t>
        <a:bodyPr/>
        <a:lstStyle/>
        <a:p>
          <a:r>
            <a:rPr lang="en-US" dirty="0"/>
            <a:t>Ashi</a:t>
          </a:r>
        </a:p>
      </dgm:t>
    </dgm:pt>
    <dgm:pt modelId="{8E98556B-D954-4E58-94F6-DB98180A4585}" type="sibTrans" cxnId="{48BC4E36-219E-4C17-9D2E-465B191DCFE4}">
      <dgm:prSet/>
      <dgm:spPr/>
      <dgm:t>
        <a:bodyPr/>
        <a:lstStyle/>
        <a:p>
          <a:endParaRPr lang="en-US"/>
        </a:p>
      </dgm:t>
    </dgm:pt>
    <dgm:pt modelId="{29178585-482F-44F1-8411-EEE4FEB0A18B}" type="parTrans" cxnId="{48BC4E36-219E-4C17-9D2E-465B191DCFE4}">
      <dgm:prSet/>
      <dgm:spPr/>
      <dgm:t>
        <a:bodyPr/>
        <a:lstStyle/>
        <a:p>
          <a:endParaRPr lang="en-US"/>
        </a:p>
      </dgm:t>
    </dgm:pt>
    <dgm:pt modelId="{E51EB8E7-DD72-46C1-B39A-364CA3CDCF01}" type="pres">
      <dgm:prSet presAssocID="{D4990C0E-385A-46E1-A872-03852ADA83AA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9B283DD1-F684-445E-A8B5-7FFD75260CAB}" type="pres">
      <dgm:prSet presAssocID="{2A6E1FD2-C312-44E0-8D4F-62D0B25DEF3D}" presName="composite" presStyleCnt="0"/>
      <dgm:spPr/>
    </dgm:pt>
    <dgm:pt modelId="{31B2C2FD-2E8E-46DF-BBEC-7E89A21861D6}" type="pres">
      <dgm:prSet presAssocID="{2A6E1FD2-C312-44E0-8D4F-62D0B25DEF3D}" presName="rect1" presStyleLbl="bgShp" presStyleIdx="0" presStyleCnt="4" custLinFactNeighborX="2931" custLinFactNeighborY="1790"/>
      <dgm:spPr>
        <a:blipFill>
          <a:blip xmlns:r="http://schemas.openxmlformats.org/officeDocument/2006/relationships" r:embed="rId1"/>
          <a:srcRect/>
          <a:stretch>
            <a:fillRect t="-11000" b="-11000"/>
          </a:stretch>
        </a:blipFill>
      </dgm:spPr>
    </dgm:pt>
    <dgm:pt modelId="{244603A0-6E4C-43F7-8EA3-82CF4D464933}" type="pres">
      <dgm:prSet presAssocID="{2A6E1FD2-C312-44E0-8D4F-62D0B25DEF3D}" presName="rect2" presStyleLbl="trBgShp" presStyleIdx="0" presStyleCnt="4" custLinFactNeighborX="-2105" custLinFactNeighborY="2772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02170CC-365C-4198-8C12-0919EB3DC229}" type="pres">
      <dgm:prSet presAssocID="{7161A157-77DD-4654-83AD-85053500904D}" presName="sibTrans" presStyleCnt="0"/>
      <dgm:spPr/>
    </dgm:pt>
    <dgm:pt modelId="{53FF62FF-A0A1-4EA0-9B3D-C59EDFD13FC9}" type="pres">
      <dgm:prSet presAssocID="{52DFE429-4D8F-4E83-8247-35E3D421C5BC}" presName="composite" presStyleCnt="0"/>
      <dgm:spPr/>
    </dgm:pt>
    <dgm:pt modelId="{0205B927-6FCD-48F4-B5CB-61E08D0B1DC7}" type="pres">
      <dgm:prSet presAssocID="{52DFE429-4D8F-4E83-8247-35E3D421C5BC}" presName="rect1" presStyleLbl="bgShp" presStyleIdx="1" presStyleCnt="4"/>
      <dgm:spPr>
        <a:blipFill>
          <a:blip xmlns:r="http://schemas.openxmlformats.org/officeDocument/2006/relationships" r:embed="rId2"/>
          <a:srcRect/>
          <a:stretch>
            <a:fillRect t="-14000" b="-14000"/>
          </a:stretch>
        </a:blipFill>
      </dgm:spPr>
    </dgm:pt>
    <dgm:pt modelId="{1C170DB8-1B1C-4904-A41A-141F44C4B928}" type="pres">
      <dgm:prSet presAssocID="{52DFE429-4D8F-4E83-8247-35E3D421C5BC}" presName="rect2" presStyleLbl="trBgShp" presStyleIdx="1" presStyleCnt="4" custLinFactNeighborX="89" custLinFactNeighborY="3414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C86206A-F1F4-4413-9358-F5DB48E5964D}" type="pres">
      <dgm:prSet presAssocID="{8E98556B-D954-4E58-94F6-DB98180A4585}" presName="sibTrans" presStyleCnt="0"/>
      <dgm:spPr/>
    </dgm:pt>
    <dgm:pt modelId="{D33AF38E-8E2B-494E-8442-160A35084E7D}" type="pres">
      <dgm:prSet presAssocID="{6E9E8653-8BC8-4C52-A35B-2769E502392D}" presName="composite" presStyleCnt="0"/>
      <dgm:spPr/>
    </dgm:pt>
    <dgm:pt modelId="{21CA5776-F04D-4D27-BE76-A00E5A36C5E0}" type="pres">
      <dgm:prSet presAssocID="{6E9E8653-8BC8-4C52-A35B-2769E502392D}" presName="rect1" presStyleLbl="bgShp" presStyleIdx="2" presStyleCnt="4" custLinFactNeighborX="808" custLinFactNeighborY="87858"/>
      <dgm:spPr>
        <a:blipFill>
          <a:blip xmlns:r="http://schemas.openxmlformats.org/officeDocument/2006/relationships" r:embed="rId3"/>
          <a:srcRect/>
          <a:stretch>
            <a:fillRect t="-17000" b="-17000"/>
          </a:stretch>
        </a:blipFill>
      </dgm:spPr>
    </dgm:pt>
    <dgm:pt modelId="{AB53B20B-C6D5-4022-A9C6-6CE1E16884D9}" type="pres">
      <dgm:prSet presAssocID="{6E9E8653-8BC8-4C52-A35B-2769E502392D}" presName="rect2" presStyleLbl="trBgShp" presStyleIdx="2" presStyleCnt="4" custLinFactNeighborX="1864" custLinFactNeighborY="2135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18DCEA1-5B3E-48CE-BDE6-5EAF15664396}" type="pres">
      <dgm:prSet presAssocID="{BC7146B3-9BDF-4553-B199-2DB02A9555FA}" presName="sibTrans" presStyleCnt="0"/>
      <dgm:spPr/>
    </dgm:pt>
    <dgm:pt modelId="{AE8FB2BF-E2E5-4304-BFFA-E38E960B35B3}" type="pres">
      <dgm:prSet presAssocID="{A1F4593A-63D0-42D9-8664-58C36CAF2C13}" presName="composite" presStyleCnt="0"/>
      <dgm:spPr/>
    </dgm:pt>
    <dgm:pt modelId="{195559A7-AD80-4976-A6E3-13710BA98B71}" type="pres">
      <dgm:prSet presAssocID="{A1F4593A-63D0-42D9-8664-58C36CAF2C13}" presName="rect1" presStyleLbl="bgShp" presStyleIdx="3" presStyleCnt="4"/>
      <dgm:spPr>
        <a:blipFill>
          <a:blip xmlns:r="http://schemas.openxmlformats.org/officeDocument/2006/relationships" r:embed="rId4"/>
          <a:srcRect/>
          <a:stretch>
            <a:fillRect t="-80000" b="-80000"/>
          </a:stretch>
        </a:blipFill>
      </dgm:spPr>
    </dgm:pt>
    <dgm:pt modelId="{8D7B03B8-B727-4DB5-ADEC-DDBD2B38903B}" type="pres">
      <dgm:prSet presAssocID="{A1F4593A-63D0-42D9-8664-58C36CAF2C13}" presName="rect2" presStyleLbl="trBgShp" presStyleIdx="3" presStyleCnt="4" custLinFactNeighborX="976" custLinFactNeighborY="2135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B83602C7-9F62-4F8B-A8CB-890C8908B36E}" srcId="{D4990C0E-385A-46E1-A872-03852ADA83AA}" destId="{2A6E1FD2-C312-44E0-8D4F-62D0B25DEF3D}" srcOrd="0" destOrd="0" parTransId="{44F95057-5241-437B-867E-E88C19DED002}" sibTransId="{7161A157-77DD-4654-83AD-85053500904D}"/>
    <dgm:cxn modelId="{1F96EBE2-BD2C-45F6-A051-87CF3807C652}" type="presOf" srcId="{D4990C0E-385A-46E1-A872-03852ADA83AA}" destId="{E51EB8E7-DD72-46C1-B39A-364CA3CDCF01}" srcOrd="0" destOrd="0" presId="urn:microsoft.com/office/officeart/2008/layout/BendingPictureSemiTransparentText"/>
    <dgm:cxn modelId="{515467BC-83B3-499E-938E-3CEA2F3316DE}" type="presOf" srcId="{6E9E8653-8BC8-4C52-A35B-2769E502392D}" destId="{AB53B20B-C6D5-4022-A9C6-6CE1E16884D9}" srcOrd="0" destOrd="0" presId="urn:microsoft.com/office/officeart/2008/layout/BendingPictureSemiTransparentText"/>
    <dgm:cxn modelId="{DC4E32FA-006A-47D3-A4BA-AC04A90969A7}" type="presOf" srcId="{A1F4593A-63D0-42D9-8664-58C36CAF2C13}" destId="{8D7B03B8-B727-4DB5-ADEC-DDBD2B38903B}" srcOrd="0" destOrd="0" presId="urn:microsoft.com/office/officeart/2008/layout/BendingPictureSemiTransparentText"/>
    <dgm:cxn modelId="{D7F5EF9E-DC55-424B-9B43-131DD7BBDF44}" type="presOf" srcId="{52DFE429-4D8F-4E83-8247-35E3D421C5BC}" destId="{1C170DB8-1B1C-4904-A41A-141F44C4B928}" srcOrd="0" destOrd="0" presId="urn:microsoft.com/office/officeart/2008/layout/BendingPictureSemiTransparentText"/>
    <dgm:cxn modelId="{0A2C2AA1-2836-4CB6-B864-E9B1A6707ED2}" type="presOf" srcId="{2A6E1FD2-C312-44E0-8D4F-62D0B25DEF3D}" destId="{244603A0-6E4C-43F7-8EA3-82CF4D464933}" srcOrd="0" destOrd="0" presId="urn:microsoft.com/office/officeart/2008/layout/BendingPictureSemiTransparentText"/>
    <dgm:cxn modelId="{BE2EDDE4-F6AF-4ADF-B7B8-8B53B7B8A88E}" srcId="{D4990C0E-385A-46E1-A872-03852ADA83AA}" destId="{6E9E8653-8BC8-4C52-A35B-2769E502392D}" srcOrd="2" destOrd="0" parTransId="{82B45140-462E-4C8B-9B25-E35F1EF90BB3}" sibTransId="{BC7146B3-9BDF-4553-B199-2DB02A9555FA}"/>
    <dgm:cxn modelId="{48BC4E36-219E-4C17-9D2E-465B191DCFE4}" srcId="{D4990C0E-385A-46E1-A872-03852ADA83AA}" destId="{52DFE429-4D8F-4E83-8247-35E3D421C5BC}" srcOrd="1" destOrd="0" parTransId="{29178585-482F-44F1-8411-EEE4FEB0A18B}" sibTransId="{8E98556B-D954-4E58-94F6-DB98180A4585}"/>
    <dgm:cxn modelId="{F903AA03-30E0-4EE0-8539-3BC273F6D75B}" srcId="{D4990C0E-385A-46E1-A872-03852ADA83AA}" destId="{A1F4593A-63D0-42D9-8664-58C36CAF2C13}" srcOrd="3" destOrd="0" parTransId="{9E62E5F5-4180-43BA-94E5-A93CA903CBDE}" sibTransId="{43EB3D60-2164-4D24-99E6-B02D2AEDF85E}"/>
    <dgm:cxn modelId="{7DFDA842-A404-4933-8BC2-5E281CFB1CBB}" type="presParOf" srcId="{E51EB8E7-DD72-46C1-B39A-364CA3CDCF01}" destId="{9B283DD1-F684-445E-A8B5-7FFD75260CAB}" srcOrd="0" destOrd="0" presId="urn:microsoft.com/office/officeart/2008/layout/BendingPictureSemiTransparentText"/>
    <dgm:cxn modelId="{2B3EAB17-63BC-40E5-8BF4-0A2B67FF056F}" type="presParOf" srcId="{9B283DD1-F684-445E-A8B5-7FFD75260CAB}" destId="{31B2C2FD-2E8E-46DF-BBEC-7E89A21861D6}" srcOrd="0" destOrd="0" presId="urn:microsoft.com/office/officeart/2008/layout/BendingPictureSemiTransparentText"/>
    <dgm:cxn modelId="{76179C09-8A84-4AA3-8D9E-1D262457E469}" type="presParOf" srcId="{9B283DD1-F684-445E-A8B5-7FFD75260CAB}" destId="{244603A0-6E4C-43F7-8EA3-82CF4D464933}" srcOrd="1" destOrd="0" presId="urn:microsoft.com/office/officeart/2008/layout/BendingPictureSemiTransparentText"/>
    <dgm:cxn modelId="{A59CD892-72D7-478A-BD01-324B360B57CE}" type="presParOf" srcId="{E51EB8E7-DD72-46C1-B39A-364CA3CDCF01}" destId="{202170CC-365C-4198-8C12-0919EB3DC229}" srcOrd="1" destOrd="0" presId="urn:microsoft.com/office/officeart/2008/layout/BendingPictureSemiTransparentText"/>
    <dgm:cxn modelId="{894113ED-8B90-4A11-A3E4-18FE9A937D93}" type="presParOf" srcId="{E51EB8E7-DD72-46C1-B39A-364CA3CDCF01}" destId="{53FF62FF-A0A1-4EA0-9B3D-C59EDFD13FC9}" srcOrd="2" destOrd="0" presId="urn:microsoft.com/office/officeart/2008/layout/BendingPictureSemiTransparentText"/>
    <dgm:cxn modelId="{1A9F1CD5-E772-4BEC-AA20-D8990A6C108F}" type="presParOf" srcId="{53FF62FF-A0A1-4EA0-9B3D-C59EDFD13FC9}" destId="{0205B927-6FCD-48F4-B5CB-61E08D0B1DC7}" srcOrd="0" destOrd="0" presId="urn:microsoft.com/office/officeart/2008/layout/BendingPictureSemiTransparentText"/>
    <dgm:cxn modelId="{42036288-0E24-4561-AD7C-2E6B2CF21737}" type="presParOf" srcId="{53FF62FF-A0A1-4EA0-9B3D-C59EDFD13FC9}" destId="{1C170DB8-1B1C-4904-A41A-141F44C4B928}" srcOrd="1" destOrd="0" presId="urn:microsoft.com/office/officeart/2008/layout/BendingPictureSemiTransparentText"/>
    <dgm:cxn modelId="{D44CC28D-7DA1-4239-8435-0CFCA4FF7889}" type="presParOf" srcId="{E51EB8E7-DD72-46C1-B39A-364CA3CDCF01}" destId="{FC86206A-F1F4-4413-9358-F5DB48E5964D}" srcOrd="3" destOrd="0" presId="urn:microsoft.com/office/officeart/2008/layout/BendingPictureSemiTransparentText"/>
    <dgm:cxn modelId="{A2A61AC4-000E-4657-9836-A2D85B4D456A}" type="presParOf" srcId="{E51EB8E7-DD72-46C1-B39A-364CA3CDCF01}" destId="{D33AF38E-8E2B-494E-8442-160A35084E7D}" srcOrd="4" destOrd="0" presId="urn:microsoft.com/office/officeart/2008/layout/BendingPictureSemiTransparentText"/>
    <dgm:cxn modelId="{CCC27C40-312B-4C00-8925-253B6442EF6A}" type="presParOf" srcId="{D33AF38E-8E2B-494E-8442-160A35084E7D}" destId="{21CA5776-F04D-4D27-BE76-A00E5A36C5E0}" srcOrd="0" destOrd="0" presId="urn:microsoft.com/office/officeart/2008/layout/BendingPictureSemiTransparentText"/>
    <dgm:cxn modelId="{156A8D4C-BC22-47DF-A583-67D5CA269DE9}" type="presParOf" srcId="{D33AF38E-8E2B-494E-8442-160A35084E7D}" destId="{AB53B20B-C6D5-4022-A9C6-6CE1E16884D9}" srcOrd="1" destOrd="0" presId="urn:microsoft.com/office/officeart/2008/layout/BendingPictureSemiTransparentText"/>
    <dgm:cxn modelId="{5641CD66-C5C9-4941-B5CC-88AD5AE15BA2}" type="presParOf" srcId="{E51EB8E7-DD72-46C1-B39A-364CA3CDCF01}" destId="{F18DCEA1-5B3E-48CE-BDE6-5EAF15664396}" srcOrd="5" destOrd="0" presId="urn:microsoft.com/office/officeart/2008/layout/BendingPictureSemiTransparentText"/>
    <dgm:cxn modelId="{F5B7A06B-0001-4C4D-AD16-D3C5465847FD}" type="presParOf" srcId="{E51EB8E7-DD72-46C1-B39A-364CA3CDCF01}" destId="{AE8FB2BF-E2E5-4304-BFFA-E38E960B35B3}" srcOrd="6" destOrd="0" presId="urn:microsoft.com/office/officeart/2008/layout/BendingPictureSemiTransparentText"/>
    <dgm:cxn modelId="{9B5594D1-F8FF-4296-B027-517AED1F4A46}" type="presParOf" srcId="{AE8FB2BF-E2E5-4304-BFFA-E38E960B35B3}" destId="{195559A7-AD80-4976-A6E3-13710BA98B71}" srcOrd="0" destOrd="0" presId="urn:microsoft.com/office/officeart/2008/layout/BendingPictureSemiTransparentText"/>
    <dgm:cxn modelId="{2606987A-0065-40CE-8C77-87A5E1280A7D}" type="presParOf" srcId="{AE8FB2BF-E2E5-4304-BFFA-E38E960B35B3}" destId="{8D7B03B8-B727-4DB5-ADEC-DDBD2B38903B}" srcOrd="1" destOrd="0" presId="urn:microsoft.com/office/officeart/2008/layout/BendingPictureSemiTransparentTex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B2C2FD-2E8E-46DF-BBEC-7E89A21861D6}">
      <dsp:nvSpPr>
        <dsp:cNvPr id="0" name=""/>
        <dsp:cNvSpPr/>
      </dsp:nvSpPr>
      <dsp:spPr>
        <a:xfrm>
          <a:off x="69841" y="101602"/>
          <a:ext cx="2312993" cy="1982508"/>
        </a:xfrm>
        <a:prstGeom prst="rect">
          <a:avLst/>
        </a:prstGeom>
        <a:blipFill>
          <a:blip xmlns:r="http://schemas.openxmlformats.org/officeDocument/2006/relationships" r:embed="rId1"/>
          <a:srcRect/>
          <a:stretch>
            <a:fillRect t="-11000" b="-11000"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4603A0-6E4C-43F7-8EA3-82CF4D464933}">
      <dsp:nvSpPr>
        <dsp:cNvPr id="0" name=""/>
        <dsp:cNvSpPr/>
      </dsp:nvSpPr>
      <dsp:spPr>
        <a:xfrm>
          <a:off x="0" y="1585778"/>
          <a:ext cx="2312993" cy="475802"/>
        </a:xfrm>
        <a:prstGeom prst="rect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solidFill>
            <a:schemeClr val="accent3">
              <a:lumMod val="75000"/>
            </a:schemeClr>
          </a:solidFill>
          <a:extLst>
            <a:ext uri="{C807C97D-BFC1-408E-A445-0C87EB9F89A2}">
              <ask:lineSketchStyleProps xmlns:ask="http://schemas.microsoft.com/office/drawing/2018/sketchyshapes" xmlns="">
                <ask:type>
                  <ask:lineSketchCurved/>
                </ask:type>
              </ask:lineSketchStyleProps>
            </a:ext>
          </a:extLst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/>
            <a:t>Kashish Gautam</a:t>
          </a:r>
        </a:p>
      </dsp:txBody>
      <dsp:txXfrm>
        <a:off x="0" y="1585778"/>
        <a:ext cx="2312993" cy="475802"/>
      </dsp:txXfrm>
    </dsp:sp>
    <dsp:sp modelId="{0205B927-6FCD-48F4-B5CB-61E08D0B1DC7}">
      <dsp:nvSpPr>
        <dsp:cNvPr id="0" name=""/>
        <dsp:cNvSpPr/>
      </dsp:nvSpPr>
      <dsp:spPr>
        <a:xfrm>
          <a:off x="2550959" y="66115"/>
          <a:ext cx="2312993" cy="1982508"/>
        </a:xfrm>
        <a:prstGeom prst="rect">
          <a:avLst/>
        </a:prstGeom>
        <a:blipFill>
          <a:blip xmlns:r="http://schemas.openxmlformats.org/officeDocument/2006/relationships" r:embed="rId2"/>
          <a:srcRect/>
          <a:stretch>
            <a:fillRect t="-14000" b="-14000"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170DB8-1B1C-4904-A41A-141F44C4B928}">
      <dsp:nvSpPr>
        <dsp:cNvPr id="0" name=""/>
        <dsp:cNvSpPr/>
      </dsp:nvSpPr>
      <dsp:spPr>
        <a:xfrm>
          <a:off x="2553006" y="1616334"/>
          <a:ext cx="2312993" cy="475802"/>
        </a:xfrm>
        <a:prstGeom prst="rect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solidFill>
            <a:schemeClr val="accent3">
              <a:lumMod val="75000"/>
            </a:schemeClr>
          </a:solidFill>
          <a:extLst>
            <a:ext uri="{C807C97D-BFC1-408E-A445-0C87EB9F89A2}">
              <ask:lineSketchStyleProps xmlns:ask="http://schemas.microsoft.com/office/drawing/2018/sketchyshapes" xmlns="">
                <ask:type>
                  <ask:lineSketchCurved/>
                </ask:type>
              </ask:lineSketchStyleProps>
            </a:ext>
          </a:extLst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/>
            <a:t>Ashi</a:t>
          </a:r>
        </a:p>
      </dsp:txBody>
      <dsp:txXfrm>
        <a:off x="2553006" y="1616334"/>
        <a:ext cx="2312993" cy="475802"/>
      </dsp:txXfrm>
    </dsp:sp>
    <dsp:sp modelId="{21CA5776-F04D-4D27-BE76-A00E5A36C5E0}">
      <dsp:nvSpPr>
        <dsp:cNvPr id="0" name=""/>
        <dsp:cNvSpPr/>
      </dsp:nvSpPr>
      <dsp:spPr>
        <a:xfrm>
          <a:off x="20736" y="2346039"/>
          <a:ext cx="2312993" cy="1982508"/>
        </a:xfrm>
        <a:prstGeom prst="rect">
          <a:avLst/>
        </a:prstGeom>
        <a:blipFill>
          <a:blip xmlns:r="http://schemas.openxmlformats.org/officeDocument/2006/relationships" r:embed="rId3"/>
          <a:srcRect/>
          <a:stretch>
            <a:fillRect t="-17000" b="-17000"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53B20B-C6D5-4022-A9C6-6CE1E16884D9}">
      <dsp:nvSpPr>
        <dsp:cNvPr id="0" name=""/>
        <dsp:cNvSpPr/>
      </dsp:nvSpPr>
      <dsp:spPr>
        <a:xfrm>
          <a:off x="45161" y="3769282"/>
          <a:ext cx="2312993" cy="475802"/>
        </a:xfrm>
        <a:prstGeom prst="rect">
          <a:avLst/>
        </a:prstGeom>
        <a:solidFill>
          <a:schemeClr val="accent3">
            <a:lumMod val="75000"/>
            <a:alpha val="40000"/>
          </a:schemeClr>
        </a:solidFill>
        <a:ln>
          <a:solidFill>
            <a:schemeClr val="accent3">
              <a:lumMod val="75000"/>
            </a:schemeClr>
          </a:solidFill>
          <a:extLst>
            <a:ext uri="{C807C97D-BFC1-408E-A445-0C87EB9F89A2}">
              <ask:lineSketchStyleProps xmlns:ask="http://schemas.microsoft.com/office/drawing/2018/sketchyshapes" xmlns="">
                <ask:type>
                  <ask:lineSketchCurved/>
                </ask:type>
              </ask:lineSketchStyleProps>
            </a:ext>
          </a:extLst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/>
            <a:t>Bhoomi</a:t>
          </a:r>
        </a:p>
      </dsp:txBody>
      <dsp:txXfrm>
        <a:off x="45161" y="3769282"/>
        <a:ext cx="2312993" cy="475802"/>
      </dsp:txXfrm>
    </dsp:sp>
    <dsp:sp modelId="{195559A7-AD80-4976-A6E3-13710BA98B71}">
      <dsp:nvSpPr>
        <dsp:cNvPr id="0" name=""/>
        <dsp:cNvSpPr/>
      </dsp:nvSpPr>
      <dsp:spPr>
        <a:xfrm>
          <a:off x="2550959" y="2279923"/>
          <a:ext cx="2312993" cy="1982508"/>
        </a:xfrm>
        <a:prstGeom prst="rect">
          <a:avLst/>
        </a:prstGeom>
        <a:blipFill>
          <a:blip xmlns:r="http://schemas.openxmlformats.org/officeDocument/2006/relationships" r:embed="rId4"/>
          <a:srcRect/>
          <a:stretch>
            <a:fillRect t="-80000" b="-80000"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7B03B8-B727-4DB5-ADEC-DDBD2B38903B}">
      <dsp:nvSpPr>
        <dsp:cNvPr id="0" name=""/>
        <dsp:cNvSpPr/>
      </dsp:nvSpPr>
      <dsp:spPr>
        <a:xfrm>
          <a:off x="2553006" y="3769277"/>
          <a:ext cx="2312993" cy="475802"/>
        </a:xfrm>
        <a:prstGeom prst="rect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solidFill>
            <a:schemeClr val="accent3">
              <a:lumMod val="75000"/>
            </a:schemeClr>
          </a:solidFill>
          <a:extLst>
            <a:ext uri="{C807C97D-BFC1-408E-A445-0C87EB9F89A2}">
              <ask:lineSketchStyleProps xmlns:ask="http://schemas.microsoft.com/office/drawing/2018/sketchyshapes" xmlns="">
                <ask:type>
                  <ask:lineSketchCurved/>
                </ask:type>
              </ask:lineSketchStyleProps>
            </a:ext>
          </a:extLst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/>
            <a:t>Khushi Kashyap</a:t>
          </a:r>
        </a:p>
      </dsp:txBody>
      <dsp:txXfrm>
        <a:off x="2553006" y="3769277"/>
        <a:ext cx="2312993" cy="4758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BendingPictureSemiTransparentText">
  <dgm:title val=""/>
  <dgm:desc val=""/>
  <dgm:catLst>
    <dgm:cat type="picture" pri="7000"/>
    <dgm:cat type="pictureconvert" pri="7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h" fact="1.19"/>
      <dgm:constr type="h" for="ch" forName="composite" refType="h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alg type="composite">
          <dgm:param type="ar" val="1.1667"/>
        </dgm:alg>
        <dgm:shape xmlns:r="http://schemas.openxmlformats.org/officeDocument/2006/relationships" r:blip="">
          <dgm:adjLst/>
        </dgm:shape>
        <dgm:constrLst>
          <dgm:constr type="l" for="ch" forName="rect1" refType="w" fact="0"/>
          <dgm:constr type="t" for="ch" forName="rect1" refType="h" fact="0"/>
          <dgm:constr type="w" for="ch" forName="rect1" refType="w"/>
          <dgm:constr type="h" for="ch" forName="rect1" refType="h"/>
          <dgm:constr type="l" for="ch" forName="rect2" refType="w" fact="0"/>
          <dgm:constr type="t" for="ch" forName="rect2" refType="h" fact="0.7"/>
          <dgm:constr type="w" for="ch" forName="rect2" refType="w"/>
          <dgm:constr type="h" for="ch" forName="rect2" refType="h" fact="0.24"/>
        </dgm:constrLst>
        <dgm:layoutNode name="rect1" styleLbl="bgShp"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rect2" styleLbl="trBgShp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0654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1/9/2026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252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9425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1/9/2026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116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1/9/2026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34360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1/9/2026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314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1/9/2026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716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1/9/2026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517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1/9/2026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522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648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026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068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87D3A4E0-C908-4EA9-ABDF-E82AD6BDEF9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15DF57-098C-4FCB-B7A8-E497E9B604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2363323"/>
            <a:ext cx="8991600" cy="1692771"/>
          </a:xfrm>
        </p:spPr>
        <p:txBody>
          <a:bodyPr vert="horz" lIns="182880" tIns="182880" rIns="182880" bIns="182880" rtlCol="0">
            <a:noAutofit/>
          </a:bodyPr>
          <a:lstStyle/>
          <a:p>
            <a:r>
              <a:rPr lang="en-US" sz="5400" dirty="0">
                <a:solidFill>
                  <a:srgbClr val="002060"/>
                </a:solidFill>
                <a:latin typeface="Algerian" panose="04020705040A02060702" pitchFamily="82" charset="0"/>
              </a:rPr>
              <a:t>Employee Payroll Management</a:t>
            </a:r>
            <a:endParaRPr lang="en-US" sz="5400" kern="1200" cap="all" spc="200" baseline="0" dirty="0">
              <a:solidFill>
                <a:srgbClr val="002060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0543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4E866FF9-A729-45F0-A163-10E89E87160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738255" cy="6858000"/>
          </a:xfrm>
          <a:prstGeom prst="rect">
            <a:avLst/>
          </a:prstGeom>
          <a:solidFill>
            <a:srgbClr val="4A53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3C86B1-7C33-4A37-A176-9016ACFEE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794" y="2167468"/>
            <a:ext cx="3401568" cy="2009432"/>
          </a:xfrm>
          <a:solidFill>
            <a:schemeClr val="accent5">
              <a:lumMod val="20000"/>
              <a:lumOff val="8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txBody>
          <a:bodyPr>
            <a:normAutofit/>
          </a:bodyPr>
          <a:lstStyle/>
          <a:p>
            <a:r>
              <a:rPr lang="en-IN" sz="3600" dirty="0">
                <a:latin typeface="Arial Black" panose="020B0A04020102020204" pitchFamily="34" charset="0"/>
              </a:rPr>
              <a:t>PayRoll Wizards</a:t>
            </a:r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804366F-2366-4688-98E7-B101C7BC614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3278" y="0"/>
            <a:ext cx="7438722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2F6407E-AAD2-A4D5-4610-A42FBD9CB1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097247"/>
              </p:ext>
            </p:extLst>
          </p:nvPr>
        </p:nvGraphicFramePr>
        <p:xfrm>
          <a:off x="5397501" y="639763"/>
          <a:ext cx="6282310" cy="25675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7BCE0D83-DF72-32F8-B5DD-EE783615D5F8}"/>
              </a:ext>
            </a:extLst>
          </p:cNvPr>
          <p:cNvGrpSpPr/>
          <p:nvPr/>
        </p:nvGrpSpPr>
        <p:grpSpPr>
          <a:xfrm>
            <a:off x="4753279" y="2167468"/>
            <a:ext cx="2211965" cy="2497838"/>
            <a:chOff x="0" y="1315097"/>
            <a:chExt cx="2261631" cy="1252444"/>
          </a:xfrm>
          <a:solidFill>
            <a:srgbClr val="9CA383"/>
          </a:solidFill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3BD57785-5D15-79E9-3ECF-86C512858270}"/>
                </a:ext>
              </a:extLst>
            </p:cNvPr>
            <p:cNvSpPr/>
            <p:nvPr/>
          </p:nvSpPr>
          <p:spPr>
            <a:xfrm>
              <a:off x="0" y="1315097"/>
              <a:ext cx="2261631" cy="1252444"/>
            </a:xfrm>
            <a:prstGeom prst="round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7" name="Rectangle: Rounded Corners 4">
              <a:extLst>
                <a:ext uri="{FF2B5EF4-FFF2-40B4-BE49-F238E27FC236}">
                  <a16:creationId xmlns:a16="http://schemas.microsoft.com/office/drawing/2014/main" id="{6E193F18-9816-2134-C79C-11FDD5C0D8D5}"/>
                </a:ext>
              </a:extLst>
            </p:cNvPr>
            <p:cNvSpPr txBox="1"/>
            <p:nvPr/>
          </p:nvSpPr>
          <p:spPr>
            <a:xfrm>
              <a:off x="134997" y="1376236"/>
              <a:ext cx="2065494" cy="940318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40970" tIns="70485" rIns="140970" bIns="70485" numCol="1" spcCol="1270" anchor="ctr" anchorCtr="0">
              <a:noAutofit/>
            </a:bodyPr>
            <a:lstStyle/>
            <a:p>
              <a:pPr marL="0" lvl="0" indent="0" algn="ctr" defTabSz="1644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Kashish Gautam</a:t>
              </a:r>
            </a:p>
            <a:p>
              <a:pPr lvl="0" algn="ctr" defTabSz="1644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00" kern="12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Ashi</a:t>
              </a:r>
            </a:p>
            <a:p>
              <a:pPr lvl="0" algn="ctr" defTabSz="1644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Bhoomi</a:t>
              </a:r>
            </a:p>
            <a:p>
              <a:pPr lvl="0" algn="ctr" defTabSz="1644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00" kern="12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Khushi Khasyap</a:t>
              </a:r>
              <a:endParaRPr lang="en-US" sz="20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15E551B8-8529-0A54-59C7-8C5D4BFFE23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91163906"/>
              </p:ext>
            </p:extLst>
          </p:nvPr>
        </p:nvGraphicFramePr>
        <p:xfrm>
          <a:off x="7037478" y="1264725"/>
          <a:ext cx="4866000" cy="43285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883350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2AEFFFF2-9EB4-4B6C-B9F8-2BA3EF89A21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3070172" cy="6858000"/>
          </a:xfrm>
          <a:prstGeom prst="rect">
            <a:avLst/>
          </a:prstGeom>
          <a:solidFill>
            <a:srgbClr val="4A53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0D65299F-028F-4AFC-B46A-8DB33E20FE4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0172" y="0"/>
            <a:ext cx="912182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AC87F6E-526A-49B5-995D-42DB656594C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7423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3C86B1-7C33-4A37-A176-9016ACFEE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873" y="1586484"/>
            <a:ext cx="3685032" cy="368503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>
            <a:noAutofit/>
          </a:bodyPr>
          <a:lstStyle/>
          <a:p>
            <a:r>
              <a:rPr lang="en-US" sz="3600" dirty="0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  <a:br>
              <a:rPr lang="en-US" sz="3600" dirty="0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 </a:t>
            </a:r>
            <a:r>
              <a:rPr lang="en-IN" sz="3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FFB6BC-B8A2-4F6A-861D-C36B251B72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1695" y="1402080"/>
            <a:ext cx="5320696" cy="4053840"/>
          </a:xfrm>
        </p:spPr>
        <p:txBody>
          <a:bodyPr anchor="ctr"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Contribution of each team member in project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Bhoomi – Coding, Video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Making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Ashi, Kashish Gautam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Kashish Gautam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Khushi - Video Making</a:t>
            </a:r>
          </a:p>
        </p:txBody>
      </p:sp>
    </p:spTree>
    <p:extLst>
      <p:ext uri="{BB962C8B-B14F-4D97-AF65-F5344CB8AC3E}">
        <p14:creationId xmlns:p14="http://schemas.microsoft.com/office/powerpoint/2010/main" val="22772550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2AEFFFF2-9EB4-4B6C-B9F8-2BA3EF89A21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307017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0D65299F-028F-4AFC-B46A-8DB33E20FE4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0172" y="0"/>
            <a:ext cx="912182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AC87F6E-526A-49B5-995D-42DB656594C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7423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3C86B1-7C33-4A37-A176-9016ACFEE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423" y="1443035"/>
            <a:ext cx="4171269" cy="397193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en-IN" sz="2000" dirty="0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Background</a:t>
            </a:r>
            <a:br>
              <a:rPr lang="en-IN" sz="2000" dirty="0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FFB6BC-B8A2-4F6A-861D-C36B251B72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0431" y="855133"/>
            <a:ext cx="5320696" cy="5147734"/>
          </a:xfrm>
        </p:spPr>
        <p:txBody>
          <a:bodyPr anchor="ctr">
            <a:norm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Past Scenario:-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Earlier, payroll work was done manually using paper records or spreadsheets, which was time-consuming and error-prone.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 Problem:-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salary calculations caused errors, data mismanagement, and delays in payroll processing.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Need:-</a:t>
            </a: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an automated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Payroll Management System using Python and MySQL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ensure accuracy, data security, and quick report generation.</a:t>
            </a:r>
          </a:p>
          <a:p>
            <a:pPr marL="0" indent="0">
              <a:buNone/>
            </a:pPr>
            <a:endParaRPr lang="en-IN" sz="2000" b="1" dirty="0">
              <a:latin typeface="Amasis MT Pro Black" panose="02040A040500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2946" y="2356728"/>
            <a:ext cx="3020886" cy="233954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84711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2AEFFFF2-9EB4-4B6C-B9F8-2BA3EF89A21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307017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D65299F-028F-4AFC-B46A-8DB33E20FE4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0172" y="0"/>
            <a:ext cx="912182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AC87F6E-526A-49B5-995D-42DB656594C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7423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B94EB9-4981-4B64-BA7E-735F6CAD4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873" y="1586484"/>
            <a:ext cx="3685032" cy="368503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en-IN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3D968-550A-45A2-B636-4D6F7BFB44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1695" y="1402080"/>
            <a:ext cx="5320696" cy="4053840"/>
          </a:xfrm>
        </p:spPr>
        <p:txBody>
          <a:bodyPr anchor="ctr"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implement an automated system to manage employee payroll operations, including attendance tracking, salary calculation, and secure storage of payroll data in a database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36769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AEFFFF2-9EB4-4B6C-B9F8-2BA3EF89A21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307017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D65299F-028F-4AFC-B46A-8DB33E20FE4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0172" y="0"/>
            <a:ext cx="912182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AC87F6E-526A-49B5-995D-42DB656594C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7423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B347B7-4FBF-466B-B290-31F20EBCD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873" y="1586484"/>
            <a:ext cx="3685032" cy="368503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en-IN" sz="3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6ED790-B911-4363-9E4B-39B6B5FCE5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1695" y="1402080"/>
            <a:ext cx="5482882" cy="4053840"/>
          </a:xfrm>
        </p:spPr>
        <p:txBody>
          <a:bodyPr anchor="ctr"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automated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Payroll Management System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will be developed using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and MySQL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manage employee data, calculate salaries accurately, store records securely, and generate payroll reports efficiently.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1187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AEFFFF2-9EB4-4B6C-B9F8-2BA3EF89A21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307017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D65299F-028F-4AFC-B46A-8DB33E20FE4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0172" y="0"/>
            <a:ext cx="912182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AC87F6E-526A-49B5-995D-42DB656594C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7423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7D89FB-6AE0-4387-B7C5-B6BE39BA7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873" y="1586484"/>
            <a:ext cx="3685032" cy="368503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en-IN" sz="3000">
                <a:solidFill>
                  <a:srgbClr val="FFFFFF"/>
                </a:solidFill>
              </a:rPr>
              <a:t>Solution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77542C-676C-4616-8042-1D07436B8F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1695" y="1402080"/>
            <a:ext cx="5798794" cy="4053840"/>
          </a:xfrm>
        </p:spPr>
        <p:txBody>
          <a:bodyPr anchor="ctr">
            <a:normAutofit/>
          </a:bodyPr>
          <a:lstStyle/>
          <a:p>
            <a:r>
              <a:rPr lang="en-US" sz="2000" dirty="0"/>
              <a:t>The system is designed as a robust and automated </a:t>
            </a:r>
            <a:r>
              <a:rPr lang="en-US" sz="2000" b="1" dirty="0"/>
              <a:t>Employee Payroll Management System</a:t>
            </a:r>
            <a:r>
              <a:rPr lang="en-US" sz="2000" dirty="0"/>
              <a:t> using </a:t>
            </a:r>
            <a:r>
              <a:rPr lang="en-US" sz="2000" b="1" dirty="0"/>
              <a:t>Python and MySQL</a:t>
            </a:r>
            <a:r>
              <a:rPr lang="en-US" sz="2000" dirty="0"/>
              <a:t>, ensuring accurate salary computation, secure data handling, and efficient payroll processing. The modular design improves reliability, reduces manual effort, and supports quick generation of payroll reports.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08195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AEFFFF2-9EB4-4B6C-B9F8-2BA3EF89A21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307017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D65299F-028F-4AFC-B46A-8DB33E20FE4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0172" y="0"/>
            <a:ext cx="912182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AC87F6E-526A-49B5-995D-42DB656594C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7423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2218D5-F128-490E-8152-7D32E2A4A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873" y="1644149"/>
            <a:ext cx="3685032" cy="368503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en-IN" sz="18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 &amp; Requirements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8FD9EAA-1D1E-D194-7738-5C49106AA8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91175" y="1920899"/>
            <a:ext cx="6013803" cy="3016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MySQL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Python IDE (VS Code / PyCharm)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Requirements: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Standard computer system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Secure data storage and efficient payroll processing</a:t>
            </a:r>
          </a:p>
        </p:txBody>
      </p:sp>
    </p:spTree>
    <p:extLst>
      <p:ext uri="{BB962C8B-B14F-4D97-AF65-F5344CB8AC3E}">
        <p14:creationId xmlns:p14="http://schemas.microsoft.com/office/powerpoint/2010/main" val="496619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ive bulbs and one of them is glowing">
            <a:extLst>
              <a:ext uri="{FF2B5EF4-FFF2-40B4-BE49-F238E27FC236}">
                <a16:creationId xmlns:a16="http://schemas.microsoft.com/office/drawing/2014/main" id="{6502B327-023B-19C1-2A07-58822C3EC9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348" r="20317" b="-1"/>
          <a:stretch/>
        </p:blipFill>
        <p:spPr>
          <a:xfrm>
            <a:off x="642" y="10"/>
            <a:ext cx="609600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AED9BD6-F510-4FEC-BBC3-026270D71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841505"/>
            <a:ext cx="4487298" cy="1174991"/>
          </a:xfrm>
          <a:solidFill>
            <a:schemeClr val="tx1">
              <a:alpha val="60000"/>
            </a:schemeClr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Innovative Idea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50E6DDF1-6599-8649-9BB6-BD7F028EBD1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79256" y="1986668"/>
            <a:ext cx="6012744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attendance integration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fully automated and error-free salary calculations.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 payroll rules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enabling customized handling of overtime, leaves, and deductions.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Instant payroll reports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with automated employee notifications for transparency and efficiency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63141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AEFFFF2-9EB4-4B6C-B9F8-2BA3EF89A21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307017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D65299F-028F-4AFC-B46A-8DB33E20FE4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0172" y="0"/>
            <a:ext cx="912182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AC87F6E-526A-49B5-995D-42DB656594C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7423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EEA8E4-2B1A-430A-A41B-30AE8D1A7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873" y="1586484"/>
            <a:ext cx="3685032" cy="368503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en-IN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/ Outcomes /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97BAE-B1B3-43F5-817C-987B4C2A3B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4382" y="1361125"/>
            <a:ext cx="6152591" cy="4053840"/>
          </a:xfrm>
        </p:spPr>
        <p:txBody>
          <a:bodyPr anchor="ctr"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automates payroll processing, reducing manual errors and saving time.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Salary calculations are accurate and instantly available, improving employee satisfaction.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data storage enhances confidentiality and easy access to payroll records.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reports aid quick decision-making and transparency.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solution boosts efficiency, reliability, and scalability of payroll management.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130655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yellow figures and a red figure on the other side">
            <a:extLst>
              <a:ext uri="{FF2B5EF4-FFF2-40B4-BE49-F238E27FC236}">
                <a16:creationId xmlns:a16="http://schemas.microsoft.com/office/drawing/2014/main" id="{AF55747E-0BF5-40C6-D4AD-0FF0589218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644" r="2022" b="-1"/>
          <a:stretch/>
        </p:blipFill>
        <p:spPr>
          <a:xfrm>
            <a:off x="642" y="10"/>
            <a:ext cx="609600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5131FA-8D36-492B-8E16-2BB465AAD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841505"/>
            <a:ext cx="4487298" cy="1174991"/>
          </a:xfrm>
          <a:solidFill>
            <a:schemeClr val="tx1">
              <a:alpha val="60000"/>
            </a:schemeClr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r>
              <a:rPr lang="en-IN" sz="2400">
                <a:solidFill>
                  <a:schemeClr val="bg1"/>
                </a:solidFill>
              </a:rPr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58A8F-6943-4E76-8967-55B21E8D34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3941" y="976129"/>
            <a:ext cx="4804931" cy="4919815"/>
          </a:xfrm>
        </p:spPr>
        <p:txBody>
          <a:bodyPr anchor="ctr"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not handle complex tax calculations.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to small to medium-sized organizations.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basic technical knowledge for installation and maintenance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759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131FA-8D36-492B-8E16-2BB465AAD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5496" y="978776"/>
            <a:ext cx="5925310" cy="1174991"/>
          </a:xfrm>
          <a:solidFill>
            <a:schemeClr val="accent5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Enhancements/Scope</a:t>
            </a:r>
          </a:p>
        </p:txBody>
      </p:sp>
      <p:pic>
        <p:nvPicPr>
          <p:cNvPr id="5" name="Picture 4" descr="White arrows going to the red target">
            <a:extLst>
              <a:ext uri="{FF2B5EF4-FFF2-40B4-BE49-F238E27FC236}">
                <a16:creationId xmlns:a16="http://schemas.microsoft.com/office/drawing/2014/main" id="{A3EA6280-589F-C0E2-BE2F-BC5FC46176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161" r="9508" b="-1"/>
          <a:stretch/>
        </p:blipFill>
        <p:spPr>
          <a:xfrm>
            <a:off x="20" y="10"/>
            <a:ext cx="4657325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58A8F-6943-4E76-8967-55B21E8D34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5496" y="2640692"/>
            <a:ext cx="6599748" cy="3906864"/>
          </a:xfrm>
        </p:spPr>
        <p:txBody>
          <a:bodyPr>
            <a:no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biometric attendance systems for better accuracy.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Adding support for tax deductions and compliance with government regulations.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Developing a mobile app for employees to access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payslips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attendance.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Implementing cloud-based storage for remote access and backup.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Introducing AI-based analytics for payroll trends and employee performance insights.</a:t>
            </a:r>
          </a:p>
        </p:txBody>
      </p:sp>
    </p:spTree>
    <p:extLst>
      <p:ext uri="{BB962C8B-B14F-4D97-AF65-F5344CB8AC3E}">
        <p14:creationId xmlns:p14="http://schemas.microsoft.com/office/powerpoint/2010/main" val="816418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C3E1C3D-633C-4756-B09B-9AD080714C9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6668" y="640080"/>
            <a:ext cx="10915252" cy="5263134"/>
          </a:xfrm>
          <a:prstGeom prst="rect">
            <a:avLst/>
          </a:prstGeom>
          <a:noFill/>
          <a:ln w="31750" cap="sq">
            <a:solidFill>
              <a:schemeClr val="accent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295DAF8-54BC-4834-A4B1-7DD2F7AFE5A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1520" y="802767"/>
            <a:ext cx="10585166" cy="49377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5131FA-8D36-492B-8E16-2BB465AAD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0624" y="1122807"/>
            <a:ext cx="9954443" cy="4297680"/>
          </a:xfrm>
          <a:noFill/>
          <a:ln>
            <a:noFill/>
          </a:ln>
        </p:spPr>
        <p:txBody>
          <a:bodyPr vert="horz" lIns="182880" tIns="182880" rIns="182880" bIns="182880" rtlCol="0" anchor="ctr">
            <a:noAutofit/>
          </a:bodyPr>
          <a:lstStyle/>
          <a:p>
            <a:r>
              <a:rPr lang="en-US" sz="4800" kern="1200" cap="all" spc="200" baseline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The Demo</a:t>
            </a:r>
            <a:r>
              <a:rPr lang="en-US" sz="4800" kern="1200" cap="all" spc="200" baseline="0" dirty="0"/>
              <a:t/>
            </a:r>
            <a:br>
              <a:rPr lang="en-US" sz="4800" kern="1200" cap="all" spc="200" baseline="0" dirty="0"/>
            </a:br>
            <a:r>
              <a:rPr lang="en-US" sz="4800" kern="1200" cap="all" spc="200" baseline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showcasing the working solution/prototype</a:t>
            </a:r>
            <a:r>
              <a:rPr lang="en-US" sz="4800" dirty="0">
                <a:solidFill>
                  <a:srgbClr val="FFFFFF"/>
                </a:solidFill>
              </a:rPr>
              <a:t/>
            </a:r>
            <a:br>
              <a:rPr lang="en-US" sz="4800" dirty="0">
                <a:solidFill>
                  <a:srgbClr val="FFFFFF"/>
                </a:solidFill>
              </a:rPr>
            </a:br>
            <a:r>
              <a:rPr lang="en-US" sz="1800" b="1" dirty="0">
                <a:solidFill>
                  <a:schemeClr val="tx1"/>
                </a:solidFill>
              </a:rPr>
              <a:t>https://github.com/KashishGautam31/Employee-Payroll-Management-System-Capstone-Project</a:t>
            </a:r>
            <a:endParaRPr lang="en-US" sz="2000" b="1" kern="1200" cap="all" spc="200" baseline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0703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C2A9291-55AD-4DDC-8735-1BA5A1C98CC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8A74F5-46D6-41B8-88F6-8920EDCB4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2600" y="2542604"/>
            <a:ext cx="8686800" cy="1772793"/>
          </a:xfr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vert="horz" wrap="square" lIns="182880" tIns="182880" rIns="182880" bIns="182880" rtlCol="0" anchor="ctr">
            <a:normAutofit/>
          </a:bodyPr>
          <a:lstStyle/>
          <a:p>
            <a:r>
              <a:rPr lang="en-US" sz="8000" b="1" kern="1200" cap="all" spc="200" baseline="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720621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307</TotalTime>
  <Words>388</Words>
  <Application>Microsoft Office PowerPoint</Application>
  <PresentationFormat>Widescreen</PresentationFormat>
  <Paragraphs>60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Algerian</vt:lpstr>
      <vt:lpstr>Amasis MT Pro Black</vt:lpstr>
      <vt:lpstr>Arial</vt:lpstr>
      <vt:lpstr>Arial Black</vt:lpstr>
      <vt:lpstr>Gill Sans MT</vt:lpstr>
      <vt:lpstr>Times New Roman</vt:lpstr>
      <vt:lpstr>Parcel</vt:lpstr>
      <vt:lpstr>Employee Payroll Management</vt:lpstr>
      <vt:lpstr>PayRoll Wizards</vt:lpstr>
      <vt:lpstr>Work load Division</vt:lpstr>
      <vt:lpstr>The Background </vt:lpstr>
      <vt:lpstr>Problem Statement</vt:lpstr>
      <vt:lpstr>Proposed Solution</vt:lpstr>
      <vt:lpstr>Solution Design</vt:lpstr>
      <vt:lpstr>Technology Stack &amp; Requirements</vt:lpstr>
      <vt:lpstr>Innovative Idea</vt:lpstr>
      <vt:lpstr>Results / Outcomes / Analysis</vt:lpstr>
      <vt:lpstr>Limitations</vt:lpstr>
      <vt:lpstr>Future Enhancements/Scope</vt:lpstr>
      <vt:lpstr>The Demo showcasing the working solution/prototype https://github.com/KashishGautam31/Employee-Payroll-Management-System-Capstone-Project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Prateek Vashishtha</dc:creator>
  <cp:lastModifiedBy>raj chaudhary</cp:lastModifiedBy>
  <cp:revision>83</cp:revision>
  <dcterms:created xsi:type="dcterms:W3CDTF">2021-11-25T04:17:35Z</dcterms:created>
  <dcterms:modified xsi:type="dcterms:W3CDTF">2026-01-09T09:35:00Z</dcterms:modified>
</cp:coreProperties>
</file>